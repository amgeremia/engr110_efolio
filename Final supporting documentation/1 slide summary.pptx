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DM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font" Target="fonts/DM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DMSans-regular.fntdata"/><Relationship Id="rId8" Type="http://schemas.openxmlformats.org/officeDocument/2006/relationships/font" Target="fonts/DM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ea6f556e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ea6f556e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457200"/>
            <a:ext cx="8686800" cy="2280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rm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52" name="Google Shape;52;p1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4" name="Google Shape;54;p13"/>
          <p:cNvSpPr/>
          <p:nvPr>
            <p:ph idx="2" type="pic"/>
          </p:nvPr>
        </p:nvSpPr>
        <p:spPr>
          <a:xfrm>
            <a:off x="228575" y="3005550"/>
            <a:ext cx="1636200" cy="774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5" name="Google Shape;55;p13"/>
          <p:cNvSpPr/>
          <p:nvPr>
            <p:ph idx="3" type="pic"/>
          </p:nvPr>
        </p:nvSpPr>
        <p:spPr>
          <a:xfrm>
            <a:off x="1149025" y="3909225"/>
            <a:ext cx="15435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56" name="Google Shape;56;p13"/>
          <p:cNvSpPr/>
          <p:nvPr>
            <p:ph idx="4" type="pic"/>
          </p:nvPr>
        </p:nvSpPr>
        <p:spPr>
          <a:xfrm>
            <a:off x="3525075" y="3005550"/>
            <a:ext cx="15999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57" name="Google Shape;57;p13"/>
          <p:cNvSpPr/>
          <p:nvPr>
            <p:ph idx="5" type="pic"/>
          </p:nvPr>
        </p:nvSpPr>
        <p:spPr>
          <a:xfrm>
            <a:off x="5271025" y="3005450"/>
            <a:ext cx="1118400" cy="1682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8" name="Google Shape;58;p13"/>
          <p:cNvSpPr/>
          <p:nvPr>
            <p:ph idx="6" type="pic"/>
          </p:nvPr>
        </p:nvSpPr>
        <p:spPr>
          <a:xfrm>
            <a:off x="7796850" y="3003650"/>
            <a:ext cx="1118400" cy="167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9" name="Google Shape;59;p13"/>
          <p:cNvSpPr/>
          <p:nvPr>
            <p:ph idx="7" type="pic"/>
          </p:nvPr>
        </p:nvSpPr>
        <p:spPr>
          <a:xfrm>
            <a:off x="230525" y="3909225"/>
            <a:ext cx="7746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60" name="Google Shape;60;p13"/>
          <p:cNvSpPr/>
          <p:nvPr>
            <p:ph idx="8" type="pic"/>
          </p:nvPr>
        </p:nvSpPr>
        <p:spPr>
          <a:xfrm>
            <a:off x="2838375" y="3909225"/>
            <a:ext cx="1368300" cy="774600"/>
          </a:xfrm>
          <a:prstGeom prst="roundRect">
            <a:avLst>
              <a:gd fmla="val 19797" name="adj"/>
            </a:avLst>
          </a:prstGeom>
          <a:noFill/>
          <a:ln>
            <a:noFill/>
          </a:ln>
        </p:spPr>
      </p:sp>
      <p:sp>
        <p:nvSpPr>
          <p:cNvPr id="61" name="Google Shape;61;p13"/>
          <p:cNvSpPr/>
          <p:nvPr>
            <p:ph idx="9" type="pic"/>
          </p:nvPr>
        </p:nvSpPr>
        <p:spPr>
          <a:xfrm>
            <a:off x="6535600" y="3008850"/>
            <a:ext cx="1118400" cy="767700"/>
          </a:xfrm>
          <a:prstGeom prst="roundRect">
            <a:avLst>
              <a:gd fmla="val 2011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275550" y="228600"/>
            <a:ext cx="8686800" cy="4547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44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Wireless </a:t>
            </a:r>
            <a:r>
              <a:rPr lang="en" sz="2644">
                <a:latin typeface="DM Sans"/>
                <a:ea typeface="DM Sans"/>
                <a:cs typeface="DM Sans"/>
                <a:sym typeface="DM Sans"/>
              </a:rPr>
              <a:t>System Design</a:t>
            </a:r>
            <a:endParaRPr sz="2644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DM Sans"/>
                <a:ea typeface="DM Sans"/>
                <a:cs typeface="DM Sans"/>
                <a:sym typeface="DM Sans"/>
              </a:rPr>
              <a:t>Gus Geremia, Vikram Jangid</a:t>
            </a:r>
            <a:r>
              <a:rPr lang="en" sz="3200"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" sz="1500">
                <a:latin typeface="DM Sans"/>
                <a:ea typeface="DM Sans"/>
                <a:cs typeface="DM Sans"/>
                <a:sym typeface="DM Sans"/>
              </a:rPr>
              <a:t>Danish Saini, Manya Goutam</a:t>
            </a:r>
            <a:endParaRPr b="1" sz="15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DM Sans"/>
                <a:ea typeface="DM Sans"/>
                <a:cs typeface="DM Sans"/>
                <a:sym typeface="DM Sans"/>
              </a:rPr>
              <a:t>Catholic Charities: </a:t>
            </a:r>
            <a:r>
              <a:rPr b="1" lang="en" sz="1500">
                <a:latin typeface="DM Sans"/>
                <a:ea typeface="DM Sans"/>
                <a:cs typeface="DM Sans"/>
                <a:sym typeface="DM Sans"/>
              </a:rPr>
              <a:t>CORAL</a:t>
            </a:r>
            <a:endParaRPr b="1" sz="15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DM Sans"/>
                <a:ea typeface="DM Sans"/>
                <a:cs typeface="DM Sans"/>
                <a:sym typeface="DM Sans"/>
              </a:rPr>
              <a:t>Professor Zand | TA Nicolas</a:t>
            </a:r>
            <a:endParaRPr b="1" sz="15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Problem 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Traditional holiday lighting lacks wireless individual control, making dynamic large-scale displays impractical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Weather made it difficult to keep the ornaments from functioning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Solution 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Custom SnoPixel v4 PCB: XIAO ESP32-C3 + 13× WS2812B NeoPixels on a compact circular board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74LVC1G125 level shifter for reliable 3.3V→5V signal drive; TSOP23xx IR receiver for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local control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Creating a weatherproof that is is a threaded hemispheres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Confidential</a:t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29825"/>
            <a:ext cx="2242793" cy="1713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8900" y="3429825"/>
            <a:ext cx="1755100" cy="175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1560" y="3529241"/>
            <a:ext cx="2846148" cy="151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