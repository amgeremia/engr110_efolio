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DM Sans Light"/>
      <p:regular r:id="rId23"/>
      <p:bold r:id="rId24"/>
      <p:italic r:id="rId25"/>
      <p:boldItalic r:id="rId26"/>
    </p:embeddedFont>
    <p:embeddedFont>
      <p:font typeface="DM Sans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  <p:embeddedFont>
      <p:font typeface="Forum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DMSansSemiBold-boldItalic.fntdata"/><Relationship Id="rId33" Type="http://schemas.openxmlformats.org/officeDocument/2006/relationships/font" Target="fonts/DMSans-italic.fntdata"/><Relationship Id="rId32" Type="http://schemas.openxmlformats.org/officeDocument/2006/relationships/font" Target="fonts/DMSans-bold.fntdata"/><Relationship Id="rId35" Type="http://schemas.openxmlformats.org/officeDocument/2006/relationships/font" Target="fonts/Forum-regular.fntdata"/><Relationship Id="rId34" Type="http://schemas.openxmlformats.org/officeDocument/2006/relationships/font" Target="fonts/DMSans-boldItalic.fntdata"/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DMSansLight-bold.fntdata"/><Relationship Id="rId23" Type="http://schemas.openxmlformats.org/officeDocument/2006/relationships/font" Target="fonts/DMSansLight-regular.fntdata"/><Relationship Id="rId26" Type="http://schemas.openxmlformats.org/officeDocument/2006/relationships/font" Target="fonts/DMSansLight-boldItalic.fntdata"/><Relationship Id="rId25" Type="http://schemas.openxmlformats.org/officeDocument/2006/relationships/font" Target="fonts/DMSansLight-italic.fntdata"/><Relationship Id="rId28" Type="http://schemas.openxmlformats.org/officeDocument/2006/relationships/font" Target="fonts/DMSansSemiBold-bold.fntdata"/><Relationship Id="rId27" Type="http://schemas.openxmlformats.org/officeDocument/2006/relationships/font" Target="fonts/DMSansSemiBold-regular.fntdata"/><Relationship Id="rId29" Type="http://schemas.openxmlformats.org/officeDocument/2006/relationships/font" Target="fonts/DMSa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5a03fa6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5a03fa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5a03fa68f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e5a03fa68f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5a03fa68f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e5a03fa68f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5ab729b8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e5ab729b8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e5ab729b8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e5ab729b8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72a06294e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e72a06294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72a06294e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e72a06294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5ab729b8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e5ab729b8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72a06294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e72a06294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e5ab729b8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e5ab729b8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5ab729b8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5ab729b8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5ab729b8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e5ab729b8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56" name="Google Shape;5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4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0" name="Google Shape;60;p14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1" name="Google Shape;61;p14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2" name="Google Shape;62;p14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" name="Google Shape;63;p14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4" name="Google Shape;64;p14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65" name="Google Shape;65;p14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5" name="Google Shape;75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8" name="Google Shape;88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1" name="Google Shape;91;p19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" name="Google Shape;92;p19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3" name="Google Shape;93;p19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19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5" name="Google Shape;95;p19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5" name="Google Shape;115;p20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16" name="Google Shape;116;p20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8" name="Google Shape;118;p20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19" name="Google Shape;119;p20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0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20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24" name="Google Shape;124;p20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0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2" name="Google Shape;132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7" name="Google Shape;137;p21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1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39" name="Google Shape;139;p21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2" name="Google Shape;142;p21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43" name="Google Shape;143;p21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1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1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51" name="Google Shape;151;p21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22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3" name="Google Shape;163;p22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6" name="Google Shape;166;p22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7" name="Google Shape;167;p22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8" name="Google Shape;168;p22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9" name="Google Shape;169;p22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0" name="Google Shape;170;p22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1" name="Google Shape;171;p22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2" name="Google Shape;172;p22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3" name="Google Shape;173;p22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4" name="Google Shape;174;p22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7" name="Google Shape;177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22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9" name="Google Shape;189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23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23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3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23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5" name="Google Shape;215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5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19" name="Google Shape;219;p25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3" name="Google Shape;223;p25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5" name="Google Shape;225;p25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5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8" name="Google Shape;228;p25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9" name="Google Shape;229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6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34" name="Google Shape;234;p26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6" name="Google Shape;236;p26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7" name="Google Shape;237;p26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40" name="Google Shape;240;p26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3" name="Google Shape;243;p26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4" name="Google Shape;254;p26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5" name="Google Shape;255;p26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6" name="Google Shape;256;p26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7" name="Google Shape;257;p26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0" name="Google Shape;260;p27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1" name="Google Shape;261;p27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2" name="Google Shape;262;p27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3" name="Google Shape;263;p2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69" name="Google Shape;269;p2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27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8" name="Google Shape;288;p27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9" name="Google Shape;289;p27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27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3" name="Google Shape;293;p27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2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9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02" name="Google Shape;302;p29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3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7" name="Google Shape;307;p30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8" name="Google Shape;308;p30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09" name="Google Shape;309;p30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0" name="Google Shape;310;p30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30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13" name="Google Shape;313;p30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8" name="Google Shape;318;p31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319" name="Google Shape;319;p31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0" name="Google Shape;320;p31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1" name="Google Shape;321;p31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2" name="Google Shape;322;p31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5" name="Google Shape;325;p31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6" name="Google Shape;326;p31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27" name="Google Shape;327;p31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3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32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3" name="Google Shape;333;p32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3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38" name="Google Shape;338;p33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339" name="Google Shape;339;p33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3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4" name="Google Shape;344;p3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45" name="Google Shape;345;p3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6" name="Google Shape;346;p3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7" name="Google Shape;347;p3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3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49" name="Google Shape;349;p3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50" name="Google Shape;350;p3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1" name="Google Shape;351;p3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54" name="Google Shape;354;p3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55" name="Google Shape;355;p35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8" name="Google Shape;358;p35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59" name="Google Shape;359;p35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60" name="Google Shape;360;p35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1" name="Google Shape;361;p3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64" name="Google Shape;364;p3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65" name="Google Shape;365;p36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6" name="Google Shape;366;p36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7" name="Google Shape;367;p36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8" name="Google Shape;368;p36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69" name="Google Shape;369;p36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70" name="Google Shape;370;p36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1" name="Google Shape;371;p3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4" name="Google Shape;374;p37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75" name="Google Shape;375;p37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6" name="Google Shape;376;p37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7" name="Google Shape;377;p37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8" name="Google Shape;378;p3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1" name="Google Shape;381;p3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2" name="Google Shape;382;p38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3" name="Google Shape;383;p38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4" name="Google Shape;384;p38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6" name="Google Shape;386;p38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7" name="Google Shape;387;p38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8" name="Google Shape;388;p38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0" name="Google Shape;390;p38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93" name="Google Shape;393;p39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94" name="Google Shape;394;p39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6" name="Google Shape;406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7" name="Google Shape;417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2" name="Google Shape;422;p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5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5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5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5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5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5" name="Google Shape;43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8" name="Google Shape;438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6" name="Google Shape;446;p5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7" name="Google Shape;447;p5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5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5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2" name="Google Shape;452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3" name="Google Shape;453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7" name="Google Shape;457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8" name="Google Shape;46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0" name="Google Shape;470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0" name="Google Shape;480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6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2"/>
          <p:cNvSpPr txBox="1"/>
          <p:nvPr>
            <p:ph type="title"/>
          </p:nvPr>
        </p:nvSpPr>
        <p:spPr>
          <a:xfrm>
            <a:off x="275550" y="2286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Wireless </a:t>
            </a:r>
            <a:r>
              <a:rPr lang="en"/>
              <a:t>System </a:t>
            </a:r>
            <a:r>
              <a:rPr lang="en"/>
              <a:t>Design</a:t>
            </a:r>
            <a:endParaRPr/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Gus Geremia, Vikram Jangid</a:t>
            </a:r>
            <a:r>
              <a:rPr lang="en" sz="4000"/>
              <a:t>, </a:t>
            </a:r>
            <a:r>
              <a:rPr lang="en" sz="2300"/>
              <a:t>Danish Saini, Manya Goutam</a:t>
            </a:r>
            <a:endParaRPr sz="2300"/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ENGR 110</a:t>
            </a:r>
            <a:endParaRPr b="1" sz="2300"/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Catholic Charities: </a:t>
            </a:r>
            <a:r>
              <a:rPr b="1" lang="en" sz="2300"/>
              <a:t>CORAL</a:t>
            </a:r>
            <a:endParaRPr b="1" sz="2300"/>
          </a:p>
        </p:txBody>
      </p:sp>
      <p:sp>
        <p:nvSpPr>
          <p:cNvPr id="505" name="Google Shape;505;p6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06" name="Google Shape;50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" y="3168783"/>
            <a:ext cx="2355400" cy="1974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225" y="3671400"/>
            <a:ext cx="348615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3"/>
          <p:cNvSpPr/>
          <p:nvPr/>
        </p:nvSpPr>
        <p:spPr>
          <a:xfrm>
            <a:off x="5496513" y="2653275"/>
            <a:ext cx="1706100" cy="2030400"/>
          </a:xfrm>
          <a:prstGeom prst="roundRect">
            <a:avLst>
              <a:gd fmla="val 1984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13" name="Google Shape;513;p63"/>
          <p:cNvSpPr/>
          <p:nvPr/>
        </p:nvSpPr>
        <p:spPr>
          <a:xfrm>
            <a:off x="2642963" y="2606201"/>
            <a:ext cx="172200" cy="172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14" name="Google Shape;514;p63"/>
          <p:cNvSpPr/>
          <p:nvPr/>
        </p:nvSpPr>
        <p:spPr>
          <a:xfrm>
            <a:off x="4341713" y="2605025"/>
            <a:ext cx="172200" cy="172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15" name="Google Shape;515;p63"/>
          <p:cNvSpPr/>
          <p:nvPr/>
        </p:nvSpPr>
        <p:spPr>
          <a:xfrm>
            <a:off x="891888" y="2606201"/>
            <a:ext cx="172200" cy="172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16" name="Google Shape;516;p63"/>
          <p:cNvSpPr/>
          <p:nvPr/>
        </p:nvSpPr>
        <p:spPr>
          <a:xfrm>
            <a:off x="8079925" y="2606201"/>
            <a:ext cx="172200" cy="172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17" name="Google Shape;517;p6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18" name="Google Shape;518;p6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19" name="Google Shape;519;p6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20" name="Google Shape;520;p6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21" name="Google Shape;521;p63"/>
          <p:cNvSpPr txBox="1"/>
          <p:nvPr>
            <p:ph type="title"/>
          </p:nvPr>
        </p:nvSpPr>
        <p:spPr>
          <a:xfrm>
            <a:off x="228600" y="460100"/>
            <a:ext cx="8686800" cy="1471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Partner: Coral Foundation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A nonprofit bringing hands-on STEM to local schools</a:t>
            </a:r>
            <a:r>
              <a:rPr lang="en" sz="4300"/>
              <a:t> </a:t>
            </a:r>
            <a:endParaRPr sz="4300"/>
          </a:p>
        </p:txBody>
      </p:sp>
      <p:sp>
        <p:nvSpPr>
          <p:cNvPr id="522" name="Google Shape;522;p6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Forum"/>
                <a:ea typeface="Forum"/>
                <a:cs typeface="Forum"/>
                <a:sym typeface="Forum"/>
              </a:rPr>
              <a:t>Catholic charity partnering with local schools for hands-on STEM education </a:t>
            </a:r>
            <a:endParaRPr sz="14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23" name="Google Shape;523;p6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Forum"/>
                <a:ea typeface="Forum"/>
                <a:cs typeface="Forum"/>
                <a:sym typeface="Forum"/>
              </a:rPr>
              <a:t>Students program &amp; assemble LED ornaments displayed at Christmas in the Park </a:t>
            </a:r>
            <a:endParaRPr sz="13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24" name="Google Shape;524;p6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Forum"/>
                <a:ea typeface="Forum"/>
                <a:cs typeface="Forum"/>
                <a:sym typeface="Forum"/>
              </a:rPr>
              <a:t>Families attend specifically to see their children's work showcased </a:t>
            </a:r>
            <a:endParaRPr sz="14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25" name="Google Shape;525;p63"/>
          <p:cNvSpPr txBox="1"/>
          <p:nvPr>
            <p:ph idx="9" type="subTitle"/>
          </p:nvPr>
        </p:nvSpPr>
        <p:spPr>
          <a:xfrm>
            <a:off x="56001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rPr>
              <a:t>The Problem: When the display fails, it undermines students' efforts and CORAL's mission </a:t>
            </a:r>
            <a:endParaRPr sz="1400">
              <a:solidFill>
                <a:schemeClr val="accent4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26" name="Google Shape;526;p6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Forum"/>
                <a:ea typeface="Forum"/>
                <a:cs typeface="Forum"/>
                <a:sym typeface="Forum"/>
              </a:rPr>
              <a:t>Staff spend hours troubleshooting hardware instead of supporting students </a:t>
            </a:r>
            <a:endParaRPr sz="14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27" name="Google Shape;527;p63"/>
          <p:cNvSpPr txBox="1"/>
          <p:nvPr>
            <p:ph idx="14" type="subTitle"/>
          </p:nvPr>
        </p:nvSpPr>
        <p:spPr>
          <a:xfrm>
            <a:off x="5652813" y="313037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28" name="Google Shape;528;p6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  <p:sp>
        <p:nvSpPr>
          <p:cNvPr id="529" name="Google Shape;529;p63"/>
          <p:cNvSpPr/>
          <p:nvPr/>
        </p:nvSpPr>
        <p:spPr>
          <a:xfrm>
            <a:off x="6311800" y="2653276"/>
            <a:ext cx="172200" cy="172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4"/>
          <p:cNvSpPr/>
          <p:nvPr/>
        </p:nvSpPr>
        <p:spPr>
          <a:xfrm>
            <a:off x="2994100" y="1467400"/>
            <a:ext cx="1147800" cy="501000"/>
          </a:xfrm>
          <a:prstGeom prst="roundRect">
            <a:avLst>
              <a:gd fmla="val 1673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35" name="Google Shape;535;p64"/>
          <p:cNvSpPr/>
          <p:nvPr/>
        </p:nvSpPr>
        <p:spPr>
          <a:xfrm>
            <a:off x="4839075" y="1409250"/>
            <a:ext cx="1339500" cy="559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36" name="Google Shape;536;p64"/>
          <p:cNvSpPr/>
          <p:nvPr/>
        </p:nvSpPr>
        <p:spPr>
          <a:xfrm>
            <a:off x="7054800" y="1467400"/>
            <a:ext cx="1729500" cy="528600"/>
          </a:xfrm>
          <a:prstGeom prst="roundRect">
            <a:avLst>
              <a:gd fmla="val 1728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37" name="Google Shape;537;p64"/>
          <p:cNvSpPr txBox="1"/>
          <p:nvPr>
            <p:ph idx="3" type="title"/>
          </p:nvPr>
        </p:nvSpPr>
        <p:spPr>
          <a:xfrm>
            <a:off x="3063300" y="457123"/>
            <a:ext cx="58521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1"/>
                </a:solidFill>
              </a:rPr>
              <a:t>The Problem:A Display That Keeps Failing </a:t>
            </a:r>
            <a:endParaRPr sz="2600">
              <a:solidFill>
                <a:schemeClr val="accent1"/>
              </a:solidFill>
            </a:endParaRPr>
          </a:p>
        </p:txBody>
      </p:sp>
      <p:sp>
        <p:nvSpPr>
          <p:cNvPr id="538" name="Google Shape;538;p64"/>
          <p:cNvSpPr txBox="1"/>
          <p:nvPr>
            <p:ph idx="4" type="subTitle"/>
          </p:nvPr>
        </p:nvSpPr>
        <p:spPr>
          <a:xfrm>
            <a:off x="7054800" y="1409238"/>
            <a:ext cx="19665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 Weatherproofing</a:t>
            </a:r>
            <a:endParaRPr sz="2000"/>
          </a:p>
        </p:txBody>
      </p:sp>
      <p:sp>
        <p:nvSpPr>
          <p:cNvPr id="539" name="Google Shape;539;p64"/>
          <p:cNvSpPr txBox="1"/>
          <p:nvPr>
            <p:ph idx="5" type="body"/>
          </p:nvPr>
        </p:nvSpPr>
        <p:spPr>
          <a:xfrm>
            <a:off x="7054800" y="1968213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orum"/>
                <a:ea typeface="Forum"/>
                <a:cs typeface="Forum"/>
                <a:sym typeface="Forum"/>
              </a:rPr>
              <a:t>Rain and cold temperatures degrade performance with no protection </a:t>
            </a:r>
            <a:endParaRPr sz="16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40" name="Google Shape;540;p64"/>
          <p:cNvSpPr txBox="1"/>
          <p:nvPr>
            <p:ph idx="6" type="subTitle"/>
          </p:nvPr>
        </p:nvSpPr>
        <p:spPr>
          <a:xfrm>
            <a:off x="4951000" y="1409246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RF </a:t>
            </a:r>
            <a:r>
              <a:rPr lang="en" sz="2000"/>
              <a:t>Congestion</a:t>
            </a:r>
            <a:endParaRPr sz="2000"/>
          </a:p>
        </p:txBody>
      </p:sp>
      <p:sp>
        <p:nvSpPr>
          <p:cNvPr id="541" name="Google Shape;541;p64"/>
          <p:cNvSpPr txBox="1"/>
          <p:nvPr>
            <p:ph idx="7" type="body"/>
          </p:nvPr>
        </p:nvSpPr>
        <p:spPr>
          <a:xfrm>
            <a:off x="4951000" y="1968213"/>
            <a:ext cx="15720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orum"/>
                <a:ea typeface="Forum"/>
                <a:cs typeface="Forum"/>
                <a:sym typeface="Forum"/>
              </a:rPr>
              <a:t>Signal interference causes widespread disconnection across the whole network </a:t>
            </a:r>
            <a:endParaRPr sz="16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42" name="Google Shape;542;p64"/>
          <p:cNvSpPr txBox="1"/>
          <p:nvPr>
            <p:ph idx="8" type="subTitle"/>
          </p:nvPr>
        </p:nvSpPr>
        <p:spPr>
          <a:xfrm>
            <a:off x="3072275" y="1467396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Node Dropouts</a:t>
            </a:r>
            <a:endParaRPr sz="2000"/>
          </a:p>
        </p:txBody>
      </p:sp>
      <p:sp>
        <p:nvSpPr>
          <p:cNvPr id="543" name="Google Shape;543;p64"/>
          <p:cNvSpPr txBox="1"/>
          <p:nvPr>
            <p:ph idx="9" type="body"/>
          </p:nvPr>
        </p:nvSpPr>
        <p:spPr>
          <a:xfrm>
            <a:off x="3072275" y="2032488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Individual ornaments lose connectivity unpredictably mid-display </a:t>
            </a:r>
            <a:endParaRPr sz="15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44" name="Google Shape;544;p64"/>
          <p:cNvSpPr txBox="1"/>
          <p:nvPr>
            <p:ph idx="13" type="subTitle"/>
          </p:nvPr>
        </p:nvSpPr>
        <p:spPr>
          <a:xfrm>
            <a:off x="232825" y="2848600"/>
            <a:ext cx="1966500" cy="20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Existing system: prone to dropouts and signal loss </a:t>
            </a:r>
            <a:endParaRPr sz="1800"/>
          </a:p>
        </p:txBody>
      </p:sp>
      <p:sp>
        <p:nvSpPr>
          <p:cNvPr id="545" name="Google Shape;545;p64"/>
          <p:cNvSpPr txBox="1"/>
          <p:nvPr/>
        </p:nvSpPr>
        <p:spPr>
          <a:xfrm>
            <a:off x="2969625" y="3541538"/>
            <a:ext cx="352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Overall: Every failure means CORAL staff troubleshoot hardware instead of supporting students </a:t>
            </a:r>
            <a:endParaRPr i="1" sz="17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id="546" name="Google Shape;54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" y="806875"/>
            <a:ext cx="2423701" cy="1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4"/>
          <p:cNvSpPr txBox="1"/>
          <p:nvPr/>
        </p:nvSpPr>
        <p:spPr>
          <a:xfrm>
            <a:off x="116500" y="228600"/>
            <a:ext cx="221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Partner PCB Design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5"/>
          <p:cNvSpPr txBox="1"/>
          <p:nvPr>
            <p:ph idx="6" type="subTitle"/>
          </p:nvPr>
        </p:nvSpPr>
        <p:spPr>
          <a:xfrm>
            <a:off x="6230988" y="1004988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Enclosure Design</a:t>
            </a:r>
            <a:endParaRPr/>
          </a:p>
        </p:txBody>
      </p:sp>
      <p:sp>
        <p:nvSpPr>
          <p:cNvPr id="553" name="Google Shape;553;p65"/>
          <p:cNvSpPr txBox="1"/>
          <p:nvPr>
            <p:ph idx="7" type="subTitle"/>
          </p:nvPr>
        </p:nvSpPr>
        <p:spPr>
          <a:xfrm>
            <a:off x="3128638" y="1291825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 Design</a:t>
            </a:r>
            <a:endParaRPr/>
          </a:p>
        </p:txBody>
      </p:sp>
      <p:sp>
        <p:nvSpPr>
          <p:cNvPr id="554" name="Google Shape;554;p65"/>
          <p:cNvSpPr txBox="1"/>
          <p:nvPr>
            <p:ph type="title"/>
          </p:nvPr>
        </p:nvSpPr>
        <p:spPr>
          <a:xfrm>
            <a:off x="228600" y="393000"/>
            <a:ext cx="59952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Our Solution- Our Design and Scope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55" name="Google Shape;555;p65"/>
          <p:cNvSpPr txBox="1"/>
          <p:nvPr>
            <p:ph idx="25" type="subTitle"/>
          </p:nvPr>
        </p:nvSpPr>
        <p:spPr>
          <a:xfrm>
            <a:off x="3119138" y="1632540"/>
            <a:ext cx="2560500" cy="11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orum"/>
                <a:ea typeface="Forum"/>
                <a:cs typeface="Forum"/>
                <a:sym typeface="Forum"/>
              </a:rPr>
              <a:t>Designed a custom board in KiCad 10.0 integrating the Seeed XIAO ESP32, LED driver circuitry, and weatherproofing considerations</a:t>
            </a:r>
            <a:endParaRPr sz="15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56" name="Google Shape;556;p65"/>
          <p:cNvSpPr txBox="1"/>
          <p:nvPr/>
        </p:nvSpPr>
        <p:spPr>
          <a:xfrm>
            <a:off x="392163" y="1035750"/>
            <a:ext cx="2238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rPr>
              <a:t>Power Scoping</a:t>
            </a:r>
            <a:endParaRPr sz="1600">
              <a:solidFill>
                <a:schemeClr val="accent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orum"/>
                <a:ea typeface="Forum"/>
                <a:cs typeface="Forum"/>
                <a:sym typeface="Forum"/>
              </a:rPr>
              <a:t>5V system, up to 480mA max per ornament (8 WS2812B LEDs × 60mA), </a:t>
            </a:r>
            <a:endParaRPr sz="16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orum"/>
                <a:ea typeface="Forum"/>
                <a:cs typeface="Forum"/>
                <a:sym typeface="Forum"/>
              </a:rPr>
              <a:t>P = 5V × 0.48A = 2.4 Watts per ornament (peak)</a:t>
            </a:r>
            <a:endParaRPr sz="21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57" name="Google Shape;557;p65"/>
          <p:cNvSpPr txBox="1"/>
          <p:nvPr/>
        </p:nvSpPr>
        <p:spPr>
          <a:xfrm>
            <a:off x="6230988" y="1251288"/>
            <a:ext cx="2437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orum"/>
                <a:ea typeface="Forum"/>
                <a:cs typeface="Forum"/>
                <a:sym typeface="Forum"/>
              </a:rPr>
              <a:t>Circular form factor designed to fit the existing CORAL ornament housing and protect electronics outdoors. Used existing injection mold to and O ring to make it work.</a:t>
            </a:r>
            <a:endParaRPr sz="16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id="558" name="Google Shape;55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3413" y="2852350"/>
            <a:ext cx="2042057" cy="147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162" y="2870725"/>
            <a:ext cx="2560500" cy="1440748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5"/>
          <p:cNvSpPr txBox="1"/>
          <p:nvPr/>
        </p:nvSpPr>
        <p:spPr>
          <a:xfrm>
            <a:off x="486063" y="4449100"/>
            <a:ext cx="252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1" name="Google Shape;561;p65"/>
          <p:cNvSpPr txBox="1"/>
          <p:nvPr/>
        </p:nvSpPr>
        <p:spPr>
          <a:xfrm>
            <a:off x="3364263" y="4449100"/>
            <a:ext cx="223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3D model of the PCB in progress</a:t>
            </a:r>
            <a:endParaRPr i="1"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2" name="Google Shape;562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0313" y="2664825"/>
            <a:ext cx="1952100" cy="19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5"/>
          <p:cNvSpPr txBox="1"/>
          <p:nvPr/>
        </p:nvSpPr>
        <p:spPr>
          <a:xfrm>
            <a:off x="6147063" y="4530900"/>
            <a:ext cx="223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CAD render of enclosure design </a:t>
            </a:r>
            <a:endParaRPr i="1"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6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Schematic and PCB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pic>
        <p:nvPicPr>
          <p:cNvPr id="569" name="Google Shape;56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75" y="991775"/>
            <a:ext cx="4372651" cy="23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6"/>
          <p:cNvSpPr txBox="1"/>
          <p:nvPr/>
        </p:nvSpPr>
        <p:spPr>
          <a:xfrm>
            <a:off x="494925" y="3439125"/>
            <a:ext cx="3806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Schematic of the Christmas ornament</a:t>
            </a:r>
            <a:endParaRPr i="1" sz="17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Copied the old blueprint but replaced a new microcontroller (ESP-32C3)</a:t>
            </a:r>
            <a:endParaRPr i="1" sz="17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id="571" name="Google Shape;57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026" y="991775"/>
            <a:ext cx="4314149" cy="329635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6"/>
          <p:cNvSpPr txBox="1"/>
          <p:nvPr/>
        </p:nvSpPr>
        <p:spPr>
          <a:xfrm>
            <a:off x="5031375" y="443705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PCB Design and routing the components together</a:t>
            </a:r>
            <a:endParaRPr i="1"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7"/>
          <p:cNvSpPr/>
          <p:nvPr/>
        </p:nvSpPr>
        <p:spPr>
          <a:xfrm>
            <a:off x="6026400" y="2892725"/>
            <a:ext cx="2942100" cy="1998300"/>
          </a:xfrm>
          <a:prstGeom prst="roundRect">
            <a:avLst>
              <a:gd fmla="val 16667" name="adj"/>
            </a:avLst>
          </a:prstGeom>
          <a:solidFill>
            <a:srgbClr val="365D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8" name="Google Shape;578;p67"/>
          <p:cNvSpPr/>
          <p:nvPr/>
        </p:nvSpPr>
        <p:spPr>
          <a:xfrm>
            <a:off x="3159000" y="2877000"/>
            <a:ext cx="2771700" cy="2014200"/>
          </a:xfrm>
          <a:prstGeom prst="roundRect">
            <a:avLst>
              <a:gd fmla="val 16667" name="adj"/>
            </a:avLst>
          </a:prstGeom>
          <a:solidFill>
            <a:srgbClr val="365D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9" name="Google Shape;579;p67"/>
          <p:cNvSpPr/>
          <p:nvPr/>
        </p:nvSpPr>
        <p:spPr>
          <a:xfrm>
            <a:off x="291600" y="2874338"/>
            <a:ext cx="2771700" cy="1730400"/>
          </a:xfrm>
          <a:prstGeom prst="roundRect">
            <a:avLst>
              <a:gd fmla="val 16667" name="adj"/>
            </a:avLst>
          </a:prstGeom>
          <a:solidFill>
            <a:srgbClr val="365D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0" name="Google Shape;580;p67"/>
          <p:cNvSpPr/>
          <p:nvPr/>
        </p:nvSpPr>
        <p:spPr>
          <a:xfrm>
            <a:off x="6157850" y="754200"/>
            <a:ext cx="2771700" cy="1492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1" name="Google Shape;581;p67"/>
          <p:cNvSpPr/>
          <p:nvPr/>
        </p:nvSpPr>
        <p:spPr>
          <a:xfrm>
            <a:off x="3254825" y="754200"/>
            <a:ext cx="2771700" cy="17304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2" name="Google Shape;582;p67"/>
          <p:cNvSpPr/>
          <p:nvPr/>
        </p:nvSpPr>
        <p:spPr>
          <a:xfrm>
            <a:off x="346275" y="896600"/>
            <a:ext cx="2771700" cy="1207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3" name="Google Shape;583;p6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7"/>
          <p:cNvSpPr txBox="1"/>
          <p:nvPr>
            <p:ph idx="2" type="subTitle"/>
          </p:nvPr>
        </p:nvSpPr>
        <p:spPr>
          <a:xfrm>
            <a:off x="145925" y="10042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Watertight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5" name="Google Shape;585;p67"/>
          <p:cNvSpPr txBox="1"/>
          <p:nvPr>
            <p:ph idx="3" type="body"/>
          </p:nvPr>
        </p:nvSpPr>
        <p:spPr>
          <a:xfrm>
            <a:off x="231875" y="1332725"/>
            <a:ext cx="26628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Design should survive an entire holiday season deployed in the park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6" name="Google Shape;586;p67"/>
          <p:cNvSpPr txBox="1"/>
          <p:nvPr>
            <p:ph idx="4" type="subTitle"/>
          </p:nvPr>
        </p:nvSpPr>
        <p:spPr>
          <a:xfrm>
            <a:off x="3154650" y="8618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 Access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7" name="Google Shape;587;p67"/>
          <p:cNvSpPr txBox="1"/>
          <p:nvPr>
            <p:ph idx="5" type="body"/>
          </p:nvPr>
        </p:nvSpPr>
        <p:spPr>
          <a:xfrm>
            <a:off x="3172200" y="1190325"/>
            <a:ext cx="28542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Firmware Updates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Maintenance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Futureproofing (Future Iteration in Same Footprint)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8" name="Google Shape;588;p67"/>
          <p:cNvSpPr txBox="1"/>
          <p:nvPr>
            <p:ph idx="6" type="subTitle"/>
          </p:nvPr>
        </p:nvSpPr>
        <p:spPr>
          <a:xfrm>
            <a:off x="6080625" y="861846"/>
            <a:ext cx="28347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Aesthetic &amp; elegant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9" name="Google Shape;589;p67"/>
          <p:cNvSpPr txBox="1"/>
          <p:nvPr>
            <p:ph idx="7" type="body"/>
          </p:nvPr>
        </p:nvSpPr>
        <p:spPr>
          <a:xfrm>
            <a:off x="5989350" y="1209850"/>
            <a:ext cx="29421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Legacy Hardware Used modified Commercially available enclosure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Dremeled</a:t>
            </a: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Hole - Epoxy seal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0" name="Google Shape;590;p67"/>
          <p:cNvSpPr txBox="1"/>
          <p:nvPr>
            <p:ph type="title"/>
          </p:nvPr>
        </p:nvSpPr>
        <p:spPr>
          <a:xfrm>
            <a:off x="228600" y="44000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Enclosure Design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91" name="Google Shape;591;p67"/>
          <p:cNvSpPr txBox="1"/>
          <p:nvPr>
            <p:ph idx="3" type="body"/>
          </p:nvPr>
        </p:nvSpPr>
        <p:spPr>
          <a:xfrm>
            <a:off x="2197800" y="528325"/>
            <a:ext cx="46545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The Problem + Deliverable Requirements</a:t>
            </a:r>
            <a:endParaRPr b="1" sz="1400"/>
          </a:p>
        </p:txBody>
      </p:sp>
      <p:sp>
        <p:nvSpPr>
          <p:cNvPr id="592" name="Google Shape;592;p67"/>
          <p:cNvSpPr txBox="1"/>
          <p:nvPr/>
        </p:nvSpPr>
        <p:spPr>
          <a:xfrm>
            <a:off x="3072000" y="2438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Initial Prototyping Decisions</a:t>
            </a:r>
            <a:endParaRPr/>
          </a:p>
        </p:txBody>
      </p:sp>
      <p:sp>
        <p:nvSpPr>
          <p:cNvPr id="593" name="Google Shape;593;p67"/>
          <p:cNvSpPr txBox="1"/>
          <p:nvPr/>
        </p:nvSpPr>
        <p:spPr>
          <a:xfrm>
            <a:off x="228600" y="2968838"/>
            <a:ext cx="2834700" cy="15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Closure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Threaded hemispheres (equator split)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added failure points (fewer moving parts)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67"/>
          <p:cNvSpPr txBox="1"/>
          <p:nvPr/>
        </p:nvSpPr>
        <p:spPr>
          <a:xfrm>
            <a:off x="3099300" y="2892725"/>
            <a:ext cx="30000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Entry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Grommet Hole at peak of top hemisphere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discreet wiring directly up to hook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Sealed with epoxy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67"/>
          <p:cNvSpPr txBox="1"/>
          <p:nvPr/>
        </p:nvSpPr>
        <p:spPr>
          <a:xfrm>
            <a:off x="6026400" y="2892725"/>
            <a:ext cx="30000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Translucent PETG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better than transparent PLA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.2mm layer height for diffusion quality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0-10% infill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 after to improve diffusion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68"/>
          <p:cNvPicPr preferRelativeResize="0"/>
          <p:nvPr/>
        </p:nvPicPr>
        <p:blipFill rotWithShape="1">
          <a:blip r:embed="rId3">
            <a:alphaModFix/>
          </a:blip>
          <a:srcRect b="0" l="0" r="0" t="11700"/>
          <a:stretch/>
        </p:blipFill>
        <p:spPr>
          <a:xfrm>
            <a:off x="0" y="601975"/>
            <a:ext cx="7121749" cy="454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8" title="Screenshot 2026-06-01 at 9.49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100" y="0"/>
            <a:ext cx="2875899" cy="189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8" title="Screenshot 2026-06-01 at 9.50.2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6325" y="3093599"/>
            <a:ext cx="3337674" cy="204989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8"/>
          <p:cNvSpPr txBox="1"/>
          <p:nvPr>
            <p:ph type="title"/>
          </p:nvPr>
        </p:nvSpPr>
        <p:spPr>
          <a:xfrm>
            <a:off x="228600" y="44000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Enclosure Design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04" name="Google Shape;604;p68"/>
          <p:cNvSpPr txBox="1"/>
          <p:nvPr>
            <p:ph idx="3" type="body"/>
          </p:nvPr>
        </p:nvSpPr>
        <p:spPr>
          <a:xfrm>
            <a:off x="2197800" y="457200"/>
            <a:ext cx="46545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Georgia"/>
                <a:ea typeface="Georgia"/>
                <a:cs typeface="Georgia"/>
                <a:sym typeface="Georgia"/>
              </a:rPr>
              <a:t>Initial Prototype</a:t>
            </a:r>
            <a:endParaRPr b="1"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9"/>
          <p:cNvSpPr/>
          <p:nvPr/>
        </p:nvSpPr>
        <p:spPr>
          <a:xfrm>
            <a:off x="145875" y="2214825"/>
            <a:ext cx="3777000" cy="1163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0" name="Google Shape;610;p69"/>
          <p:cNvSpPr/>
          <p:nvPr/>
        </p:nvSpPr>
        <p:spPr>
          <a:xfrm>
            <a:off x="145875" y="3501650"/>
            <a:ext cx="4654500" cy="1265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69"/>
          <p:cNvSpPr/>
          <p:nvPr/>
        </p:nvSpPr>
        <p:spPr>
          <a:xfrm>
            <a:off x="145875" y="866700"/>
            <a:ext cx="3099600" cy="1141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6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9"/>
          <p:cNvSpPr txBox="1"/>
          <p:nvPr>
            <p:ph type="title"/>
          </p:nvPr>
        </p:nvSpPr>
        <p:spPr>
          <a:xfrm>
            <a:off x="228600" y="966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Enclosure Design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14" name="Google Shape;614;p69"/>
          <p:cNvSpPr txBox="1"/>
          <p:nvPr>
            <p:ph idx="3" type="body"/>
          </p:nvPr>
        </p:nvSpPr>
        <p:spPr>
          <a:xfrm>
            <a:off x="2197800" y="534425"/>
            <a:ext cx="46545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Feedback and Second Prototype</a:t>
            </a:r>
            <a:endParaRPr b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69"/>
          <p:cNvSpPr txBox="1"/>
          <p:nvPr>
            <p:ph idx="2" type="subTitle"/>
          </p:nvPr>
        </p:nvSpPr>
        <p:spPr>
          <a:xfrm>
            <a:off x="151450" y="975114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Printing Complexity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6" name="Google Shape;616;p69"/>
          <p:cNvSpPr txBox="1"/>
          <p:nvPr>
            <p:ph idx="3" type="body"/>
          </p:nvPr>
        </p:nvSpPr>
        <p:spPr>
          <a:xfrm>
            <a:off x="340575" y="1374775"/>
            <a:ext cx="2771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Prototype has 3 unique pieces per unit - material heavy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7" name="Google Shape;617;p69"/>
          <p:cNvSpPr txBox="1"/>
          <p:nvPr>
            <p:ph idx="2" type="subTitle"/>
          </p:nvPr>
        </p:nvSpPr>
        <p:spPr>
          <a:xfrm>
            <a:off x="113950" y="2294711"/>
            <a:ext cx="2909700" cy="554100"/>
          </a:xfrm>
          <a:prstGeom prst="rect">
            <a:avLst/>
          </a:prstGeom>
        </p:spPr>
        <p:txBody>
          <a:bodyPr anchorCtr="0" anchor="t" bIns="93825" lIns="93825" spcFirstLastPara="1" rIns="93825" wrap="square" tIns="9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8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Diffusivity</a:t>
            </a:r>
            <a:r>
              <a:rPr lang="en" sz="2258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258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8" name="Google Shape;618;p69"/>
          <p:cNvSpPr txBox="1"/>
          <p:nvPr>
            <p:ph idx="3" type="body"/>
          </p:nvPr>
        </p:nvSpPr>
        <p:spPr>
          <a:xfrm>
            <a:off x="317175" y="2508400"/>
            <a:ext cx="3556200" cy="554100"/>
          </a:xfrm>
          <a:prstGeom prst="rect">
            <a:avLst/>
          </a:prstGeom>
        </p:spPr>
        <p:txBody>
          <a:bodyPr anchorCtr="0" anchor="t" bIns="93825" lIns="93825" spcFirstLastPara="1" rIns="93825" wrap="square" tIns="9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Diffusivity counterintuitive to emphasis on visual display - even with extensive post processing of print.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9" name="Google Shape;619;p69"/>
          <p:cNvSpPr txBox="1"/>
          <p:nvPr>
            <p:ph idx="2" type="subTitle"/>
          </p:nvPr>
        </p:nvSpPr>
        <p:spPr>
          <a:xfrm>
            <a:off x="151450" y="3562976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Weather Seal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0" name="Google Shape;620;p69"/>
          <p:cNvSpPr txBox="1"/>
          <p:nvPr>
            <p:ph idx="3" type="body"/>
          </p:nvPr>
        </p:nvSpPr>
        <p:spPr>
          <a:xfrm>
            <a:off x="340575" y="3853550"/>
            <a:ext cx="43866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Threaded seal will not be watertight - capillary action will pull water along gaps - teflon tape is an added layer of complexity.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1" name="Google Shape;621;p69"/>
          <p:cNvSpPr/>
          <p:nvPr/>
        </p:nvSpPr>
        <p:spPr>
          <a:xfrm>
            <a:off x="3245475" y="1327650"/>
            <a:ext cx="2506800" cy="2193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69"/>
          <p:cNvSpPr/>
          <p:nvPr/>
        </p:nvSpPr>
        <p:spPr>
          <a:xfrm>
            <a:off x="3922875" y="2675775"/>
            <a:ext cx="1829400" cy="2193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3" name="Google Shape;623;p69"/>
          <p:cNvSpPr/>
          <p:nvPr/>
        </p:nvSpPr>
        <p:spPr>
          <a:xfrm>
            <a:off x="4800375" y="3962625"/>
            <a:ext cx="951900" cy="2193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4" name="Google Shape;624;p69"/>
          <p:cNvSpPr/>
          <p:nvPr/>
        </p:nvSpPr>
        <p:spPr>
          <a:xfrm>
            <a:off x="5910300" y="866700"/>
            <a:ext cx="2771700" cy="1141200"/>
          </a:xfrm>
          <a:prstGeom prst="roundRect">
            <a:avLst>
              <a:gd fmla="val 16667" name="adj"/>
            </a:avLst>
          </a:prstGeom>
          <a:solidFill>
            <a:srgbClr val="365D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5" name="Google Shape;625;p69"/>
          <p:cNvSpPr txBox="1"/>
          <p:nvPr>
            <p:ph idx="2" type="subTitle"/>
          </p:nvPr>
        </p:nvSpPr>
        <p:spPr>
          <a:xfrm>
            <a:off x="5915875" y="975114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Minimize Parts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6" name="Google Shape;626;p69"/>
          <p:cNvSpPr txBox="1"/>
          <p:nvPr>
            <p:ph idx="3" type="body"/>
          </p:nvPr>
        </p:nvSpPr>
        <p:spPr>
          <a:xfrm>
            <a:off x="6107775" y="1309645"/>
            <a:ext cx="1770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Single printed part, 2 per enclosure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7" name="Google Shape;627;p69"/>
          <p:cNvSpPr/>
          <p:nvPr/>
        </p:nvSpPr>
        <p:spPr>
          <a:xfrm>
            <a:off x="5913075" y="2184175"/>
            <a:ext cx="2771700" cy="1141200"/>
          </a:xfrm>
          <a:prstGeom prst="roundRect">
            <a:avLst>
              <a:gd fmla="val 16667" name="adj"/>
            </a:avLst>
          </a:prstGeom>
          <a:solidFill>
            <a:srgbClr val="365D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8" name="Google Shape;628;p69"/>
          <p:cNvSpPr txBox="1"/>
          <p:nvPr>
            <p:ph idx="2" type="subTitle"/>
          </p:nvPr>
        </p:nvSpPr>
        <p:spPr>
          <a:xfrm>
            <a:off x="5918650" y="229258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Hybrid Material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9" name="Google Shape;629;p69"/>
          <p:cNvSpPr txBox="1"/>
          <p:nvPr>
            <p:ph idx="3" type="body"/>
          </p:nvPr>
        </p:nvSpPr>
        <p:spPr>
          <a:xfrm>
            <a:off x="6107775" y="2617345"/>
            <a:ext cx="1770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Injection Molded original enclosure for 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transparency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Printed part for seal &amp; seat - secured with epoxy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0" name="Google Shape;630;p69"/>
          <p:cNvSpPr/>
          <p:nvPr/>
        </p:nvSpPr>
        <p:spPr>
          <a:xfrm>
            <a:off x="5915850" y="3501650"/>
            <a:ext cx="2771700" cy="1141200"/>
          </a:xfrm>
          <a:prstGeom prst="roundRect">
            <a:avLst>
              <a:gd fmla="val 16667" name="adj"/>
            </a:avLst>
          </a:prstGeom>
          <a:solidFill>
            <a:srgbClr val="365D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1" name="Google Shape;631;p69"/>
          <p:cNvSpPr txBox="1"/>
          <p:nvPr>
            <p:ph idx="2" type="subTitle"/>
          </p:nvPr>
        </p:nvSpPr>
        <p:spPr>
          <a:xfrm>
            <a:off x="5921425" y="3610064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O-ring Closure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2" name="Google Shape;632;p69"/>
          <p:cNvSpPr txBox="1"/>
          <p:nvPr>
            <p:ph idx="3" type="body"/>
          </p:nvPr>
        </p:nvSpPr>
        <p:spPr>
          <a:xfrm>
            <a:off x="6110550" y="4009720"/>
            <a:ext cx="1770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6 m2 screws compress an o-ring between the two hemispheres.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70"/>
          <p:cNvSpPr txBox="1"/>
          <p:nvPr>
            <p:ph idx="4" type="subTitle"/>
          </p:nvPr>
        </p:nvSpPr>
        <p:spPr>
          <a:xfrm>
            <a:off x="3154650" y="3375201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Square Groove + epoxy seal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9" name="Google Shape;639;p70"/>
          <p:cNvSpPr txBox="1"/>
          <p:nvPr>
            <p:ph idx="5" type="body"/>
          </p:nvPr>
        </p:nvSpPr>
        <p:spPr>
          <a:xfrm>
            <a:off x="3687000" y="4011043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Groove manufactured for 1/16th inch o-ring. Achieves ~ 30% compression with .05mm vertical clearance.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0" name="Google Shape;640;p70"/>
          <p:cNvSpPr txBox="1"/>
          <p:nvPr>
            <p:ph idx="6" type="subTitle"/>
          </p:nvPr>
        </p:nvSpPr>
        <p:spPr>
          <a:xfrm>
            <a:off x="246413" y="333778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Printed Part w/ molded part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1" name="Google Shape;641;p70"/>
          <p:cNvSpPr txBox="1"/>
          <p:nvPr>
            <p:ph idx="7" type="body"/>
          </p:nvPr>
        </p:nvSpPr>
        <p:spPr>
          <a:xfrm>
            <a:off x="778763" y="397363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6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M2 bore holes for bolt + nut to compress o-ring. Injection Molded Commercially available part pictured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2" name="Google Shape;642;p70"/>
          <p:cNvSpPr txBox="1"/>
          <p:nvPr>
            <p:ph type="title"/>
          </p:nvPr>
        </p:nvSpPr>
        <p:spPr>
          <a:xfrm>
            <a:off x="228600" y="44000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Enclosure Design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43" name="Google Shape;64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163" y="861850"/>
            <a:ext cx="2942475" cy="25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50" y="861850"/>
            <a:ext cx="2513378" cy="25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70"/>
          <p:cNvSpPr txBox="1"/>
          <p:nvPr>
            <p:ph idx="3" type="body"/>
          </p:nvPr>
        </p:nvSpPr>
        <p:spPr>
          <a:xfrm>
            <a:off x="2197800" y="511175"/>
            <a:ext cx="46545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Georgia"/>
                <a:ea typeface="Georgia"/>
                <a:cs typeface="Georgia"/>
                <a:sym typeface="Georgia"/>
              </a:rPr>
              <a:t>Finalized Design Based on Feedback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6" name="Google Shape;646;p70"/>
          <p:cNvSpPr txBox="1"/>
          <p:nvPr>
            <p:ph idx="2" type="subTitle"/>
          </p:nvPr>
        </p:nvSpPr>
        <p:spPr>
          <a:xfrm>
            <a:off x="6159150" y="34192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Enclosure Drawing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7" name="Google Shape;647;p70"/>
          <p:cNvSpPr txBox="1"/>
          <p:nvPr>
            <p:ph idx="3" type="body"/>
          </p:nvPr>
        </p:nvSpPr>
        <p:spPr>
          <a:xfrm>
            <a:off x="6691500" y="380623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Final drawing of single printed part - 2 per enclosure.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48" name="Google Shape;64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201" y="892224"/>
            <a:ext cx="3095235" cy="23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1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91425" lIns="91425" spcFirstLastPara="1" rIns="863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What We Accomplished</a:t>
            </a:r>
            <a:endParaRPr/>
          </a:p>
        </p:txBody>
      </p:sp>
      <p:sp>
        <p:nvSpPr>
          <p:cNvPr id="654" name="Google Shape;654;p71"/>
          <p:cNvSpPr/>
          <p:nvPr/>
        </p:nvSpPr>
        <p:spPr>
          <a:xfrm>
            <a:off x="5746792" y="462618"/>
            <a:ext cx="2850000" cy="49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9975" lIns="129975" spcFirstLastPara="1" rIns="129975" wrap="square" tIns="12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6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Lessons Learned</a:t>
            </a:r>
            <a:endParaRPr sz="1706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655" name="Google Shape;655;p71"/>
          <p:cNvSpPr txBox="1"/>
          <p:nvPr/>
        </p:nvSpPr>
        <p:spPr>
          <a:xfrm>
            <a:off x="5313750" y="1196850"/>
            <a:ext cx="37161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975" lIns="129975" spcFirstLastPara="1" rIns="129975" wrap="square" tIns="129975">
            <a:spAutoFit/>
          </a:bodyPr>
          <a:lstStyle/>
          <a:p>
            <a:pPr indent="-438676" lvl="0" marL="64998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0"/>
              <a:buFont typeface="Forum"/>
              <a:buChar char="●"/>
            </a:pPr>
            <a:r>
              <a:rPr lang="en" sz="179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Dove into design before fully scoping, cost time on network architecture</a:t>
            </a:r>
            <a:endParaRPr sz="179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-438676" lvl="0" marL="64998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0"/>
              <a:buFont typeface="Forum"/>
              <a:buChar char="●"/>
            </a:pPr>
            <a:r>
              <a:rPr lang="en" sz="179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Network topology (ESP-NOW node count, range, mesh structure) remains an open item</a:t>
            </a:r>
            <a:endParaRPr sz="179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  <a:p>
            <a:pPr indent="-438676" lvl="0" marL="64998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0"/>
              <a:buFont typeface="Forum"/>
              <a:buChar char="●"/>
            </a:pPr>
            <a:r>
              <a:rPr lang="en" sz="179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Earlier stakeholder alignment would've sharpened our requirements faster</a:t>
            </a:r>
            <a:endParaRPr sz="179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56" name="Google Shape;656;p71"/>
          <p:cNvSpPr txBox="1"/>
          <p:nvPr/>
        </p:nvSpPr>
        <p:spPr>
          <a:xfrm>
            <a:off x="5496300" y="3978575"/>
            <a:ext cx="310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Note: All open items are documented in the handoff report for the next team to build on.</a:t>
            </a:r>
            <a:endParaRPr i="1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grpSp>
        <p:nvGrpSpPr>
          <p:cNvPr id="657" name="Google Shape;657;p71"/>
          <p:cNvGrpSpPr/>
          <p:nvPr/>
        </p:nvGrpSpPr>
        <p:grpSpPr>
          <a:xfrm>
            <a:off x="180976" y="1506338"/>
            <a:ext cx="3660400" cy="3442802"/>
            <a:chOff x="4194174" y="324184"/>
            <a:chExt cx="2004600" cy="2734119"/>
          </a:xfrm>
        </p:grpSpPr>
        <p:sp>
          <p:nvSpPr>
            <p:cNvPr id="658" name="Google Shape;658;p71"/>
            <p:cNvSpPr/>
            <p:nvPr/>
          </p:nvSpPr>
          <p:spPr>
            <a:xfrm>
              <a:off x="4194174" y="324184"/>
              <a:ext cx="2004600" cy="350400"/>
            </a:xfrm>
            <a:prstGeom prst="roundRect">
              <a:avLst>
                <a:gd fmla="val 500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115125" lIns="115125" spcFirstLastPara="1" rIns="115125" wrap="square" tIns="11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37">
                  <a:solidFill>
                    <a:schemeClr val="lt1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WINS</a:t>
              </a:r>
              <a:endParaRPr sz="1637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</p:txBody>
        </p:sp>
        <p:grpSp>
          <p:nvGrpSpPr>
            <p:cNvPr id="659" name="Google Shape;659;p71"/>
            <p:cNvGrpSpPr/>
            <p:nvPr/>
          </p:nvGrpSpPr>
          <p:grpSpPr>
            <a:xfrm>
              <a:off x="4220262" y="703303"/>
              <a:ext cx="1879800" cy="2355000"/>
              <a:chOff x="4220262" y="703303"/>
              <a:chExt cx="1879800" cy="2355000"/>
            </a:xfrm>
          </p:grpSpPr>
          <p:sp>
            <p:nvSpPr>
              <p:cNvPr id="660" name="Google Shape;660;p71"/>
              <p:cNvSpPr txBox="1"/>
              <p:nvPr/>
            </p:nvSpPr>
            <p:spPr>
              <a:xfrm>
                <a:off x="4220262" y="703303"/>
                <a:ext cx="1879800" cy="235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-423793" lvl="0" marL="575718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41"/>
                  <a:buFont typeface="Forum"/>
                  <a:buChar char="●"/>
                </a:pPr>
                <a:r>
                  <a:rPr lang="en" sz="2141">
                    <a:solidFill>
                      <a:schemeClr val="lt1"/>
                    </a:solidFill>
                    <a:latin typeface="Forum"/>
                    <a:ea typeface="Forum"/>
                    <a:cs typeface="Forum"/>
                    <a:sym typeface="Forum"/>
                  </a:rPr>
                  <a:t>Met all core CORAL requirements</a:t>
                </a:r>
                <a:endParaRPr sz="2141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endParaRPr>
              </a:p>
              <a:p>
                <a:pPr indent="-423793" lvl="0" marL="575718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41"/>
                  <a:buFont typeface="Forum"/>
                  <a:buChar char="●"/>
                </a:pPr>
                <a:r>
                  <a:rPr lang="en" sz="2141">
                    <a:solidFill>
                      <a:schemeClr val="lt1"/>
                    </a:solidFill>
                    <a:latin typeface="Forum"/>
                    <a:ea typeface="Forum"/>
                    <a:cs typeface="Forum"/>
                    <a:sym typeface="Forum"/>
                  </a:rPr>
                  <a:t>Scoping the PCB and enclosure</a:t>
                </a:r>
                <a:endParaRPr sz="2141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endParaRPr>
              </a:p>
              <a:p>
                <a:pPr indent="-423793" lvl="0" marL="575718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41"/>
                  <a:buFont typeface="Forum"/>
                  <a:buChar char="●"/>
                </a:pPr>
                <a:r>
                  <a:rPr lang="en" sz="2141">
                    <a:solidFill>
                      <a:schemeClr val="lt1"/>
                    </a:solidFill>
                    <a:latin typeface="Forum"/>
                    <a:ea typeface="Forum"/>
                    <a:cs typeface="Forum"/>
                    <a:sym typeface="Forum"/>
                  </a:rPr>
                  <a:t>Prototyped enclosure w/ project specific needs and resource minimization</a:t>
                </a:r>
                <a:endParaRPr sz="2141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41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endParaRPr>
              </a:p>
            </p:txBody>
          </p:sp>
          <p:sp>
            <p:nvSpPr>
              <p:cNvPr id="661" name="Google Shape;661;p71"/>
              <p:cNvSpPr txBox="1"/>
              <p:nvPr/>
            </p:nvSpPr>
            <p:spPr>
              <a:xfrm>
                <a:off x="4699276" y="1504425"/>
                <a:ext cx="1290000" cy="16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385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2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 OFF DESIGN FILES </a:t>
            </a:r>
            <a:endParaRPr/>
          </a:p>
        </p:txBody>
      </p:sp>
      <p:sp>
        <p:nvSpPr>
          <p:cNvPr id="667" name="Google Shape;667;p72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orum"/>
                <a:ea typeface="Forum"/>
                <a:cs typeface="Forum"/>
                <a:sym typeface="Forum"/>
              </a:rPr>
              <a:t>KiCad schematic, PCB layout, CAD enclosure, and project scope ready for the next team</a:t>
            </a:r>
            <a:endParaRPr sz="15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68" name="Google Shape;668;p72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SOLDER &amp; ASSEMBLE </a:t>
            </a:r>
            <a:endParaRPr/>
          </a:p>
        </p:txBody>
      </p:sp>
      <p:sp>
        <p:nvSpPr>
          <p:cNvPr id="669" name="Google Shape;669;p72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orum"/>
                <a:ea typeface="Forum"/>
                <a:cs typeface="Forum"/>
                <a:sym typeface="Forum"/>
              </a:rPr>
              <a:t>Next team solders the PCB, assembles the enclosure, and begins physical prototyping</a:t>
            </a:r>
            <a:endParaRPr sz="15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0" name="Google Shape;670;p72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NETWORK ARCHITECTURE</a:t>
            </a:r>
            <a:endParaRPr/>
          </a:p>
        </p:txBody>
      </p:sp>
      <p:sp>
        <p:nvSpPr>
          <p:cNvPr id="671" name="Google Shape;671;p72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orum"/>
                <a:ea typeface="Forum"/>
                <a:cs typeface="Forum"/>
                <a:sym typeface="Forum"/>
              </a:rPr>
              <a:t>Define ESP-NOW topology, node count, range, hub vs mesh structure, and controller logic</a:t>
            </a:r>
            <a:endParaRPr sz="15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2" name="Google Shape;672;p72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&amp; FIELD TEST</a:t>
            </a:r>
            <a:endParaRPr/>
          </a:p>
        </p:txBody>
      </p:sp>
      <p:sp>
        <p:nvSpPr>
          <p:cNvPr id="673" name="Google Shape;673;p72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Forum"/>
                <a:ea typeface="Forum"/>
                <a:cs typeface="Forum"/>
                <a:sym typeface="Forum"/>
              </a:rPr>
              <a:t>Assemble the physical board, validate enclosure tolerances, and test at a Christmas in the Park environment</a:t>
            </a:r>
            <a:endParaRPr sz="14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4" name="Google Shape;674;p72"/>
          <p:cNvSpPr/>
          <p:nvPr/>
        </p:nvSpPr>
        <p:spPr>
          <a:xfrm flipH="1">
            <a:off x="3608075" y="457200"/>
            <a:ext cx="556200" cy="540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1</a:t>
            </a:r>
            <a:endParaRPr sz="25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5" name="Google Shape;675;p72"/>
          <p:cNvSpPr/>
          <p:nvPr/>
        </p:nvSpPr>
        <p:spPr>
          <a:xfrm flipH="1">
            <a:off x="3608075" y="1686042"/>
            <a:ext cx="556200" cy="540000"/>
          </a:xfrm>
          <a:prstGeom prst="roundRect">
            <a:avLst>
              <a:gd fmla="val 199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2</a:t>
            </a:r>
            <a:endParaRPr sz="2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6" name="Google Shape;676;p72"/>
          <p:cNvSpPr/>
          <p:nvPr/>
        </p:nvSpPr>
        <p:spPr>
          <a:xfrm flipH="1">
            <a:off x="3608075" y="2914883"/>
            <a:ext cx="556200" cy="540000"/>
          </a:xfrm>
          <a:prstGeom prst="roundRect">
            <a:avLst>
              <a:gd fmla="val 19978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</a:t>
            </a:r>
            <a:endParaRPr sz="25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7" name="Google Shape;677;p72"/>
          <p:cNvSpPr/>
          <p:nvPr/>
        </p:nvSpPr>
        <p:spPr>
          <a:xfrm flipH="1">
            <a:off x="3608075" y="4143725"/>
            <a:ext cx="556200" cy="5400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4</a:t>
            </a:r>
            <a:endParaRPr sz="25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78" name="Google Shape;678;p72"/>
          <p:cNvSpPr txBox="1"/>
          <p:nvPr>
            <p:ph type="title"/>
          </p:nvPr>
        </p:nvSpPr>
        <p:spPr>
          <a:xfrm>
            <a:off x="228600" y="460100"/>
            <a:ext cx="2834700" cy="868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NEXT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STEPS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3"/>
          <p:cNvSpPr txBox="1"/>
          <p:nvPr>
            <p:ph type="title"/>
          </p:nvPr>
        </p:nvSpPr>
        <p:spPr>
          <a:xfrm>
            <a:off x="228600" y="1297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sp>
        <p:nvSpPr>
          <p:cNvPr id="684" name="Google Shape;684;p73"/>
          <p:cNvSpPr txBox="1"/>
          <p:nvPr>
            <p:ph idx="1" type="subTitle"/>
          </p:nvPr>
        </p:nvSpPr>
        <p:spPr>
          <a:xfrm>
            <a:off x="4994900" y="457200"/>
            <a:ext cx="3920400" cy="40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John &amp; Catholic Charities CORAL — For your partnership, guidance, and mission-driven work supporting students in our community</a:t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Professor Zand — For your instruction and support throughout the ENGR 110 course</a:t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Nicholas — For your guidance and feedback as our TA</a:t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orum"/>
                <a:ea typeface="Forum"/>
                <a:cs typeface="Forum"/>
                <a:sym typeface="Forum"/>
              </a:rPr>
              <a:t>Santa Clara University &amp; ENGR 110 — For providing the opportunity to work on real-world community engineering</a:t>
            </a:r>
            <a:endParaRPr sz="17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85" name="Google Shape;685;p73"/>
          <p:cNvSpPr txBox="1"/>
          <p:nvPr/>
        </p:nvSpPr>
        <p:spPr>
          <a:xfrm>
            <a:off x="6413700" y="3800336"/>
            <a:ext cx="25017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86" name="Google Shape;68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075" y="1993975"/>
            <a:ext cx="1681975" cy="168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950" y="3800325"/>
            <a:ext cx="2883650" cy="108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